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with the one-sentence success criterion. SSFT is Musiat et al. 2026, not SSFTT 2022. LESSViT is the source of two ideas only (tied embed + wavelength PE), not the model we reproduce.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Problem is spectral configuration shift plus evaluation leakage. Do not spend this slide on wildfire or SOTA leaderboards.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asked about SOTA: SSFT reports strong HSI-Benchmark numbers at 516k params; we are not chasing that leaderboard. If asked about LESSViT compute: skip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Novelty is the combination and the evaluation protocol, not a new attention operator. Be explicit that 516k is the paper’s count; our D=64 reconstruction may land ~0.16–0.23M.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asked why not EuroSAT RGB: wrong sensor. Stretch later is 13-band EuroSAT-MS / Sentinel-2, not this intro.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Paper param count 516k; we will print ours and not inflate layers. Spatial Q / spectral KV is SSFT eq. (4).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Ablations later: fused vs spectral-only vs spatial-only (SSFT Tab. 4); index vs λ-PE.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WIP=1. Follow-on planning after sprint 3, before the first download, to freeze the ID band JSON. Course Lab 1 / NPU is a different assignment.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success criterion. Invite questions on split leakage and why we refuse OA-only tables.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384048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20" kern="0" dirty="0">
                <a:solidFill>
                  <a:srgbClr val="A7A7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SJSU  ·  DATA 255  ·  DEEP LEARNING FOR COMPUTER VISION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9768535" y="384048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spc="200" kern="0" dirty="0">
                <a:solidFill>
                  <a:srgbClr val="A7A7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/ 09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77240" y="1325880"/>
            <a:ext cx="2331720" cy="384048"/>
          </a:xfrm>
          <a:prstGeom prst="rect">
            <a:avLst/>
          </a:prstGeom>
          <a:solidFill>
            <a:srgbClr val="1B2420"/>
          </a:solidFill>
          <a:ln w="9525">
            <a:solidFill>
              <a:srgbClr val="A7A79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325880"/>
            <a:ext cx="2331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spc="240" kern="0" dirty="0">
                <a:solidFill>
                  <a:srgbClr val="C9C4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INTRODUCTION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77240" y="1920240"/>
            <a:ext cx="104241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dirty="0">
                <a:solidFill>
                  <a:srgbClr val="EFE9D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SSFT-Wave</a:t>
            </a:r>
            <a:endParaRPr lang="en-US" sz="5200" dirty="0"/>
          </a:p>
        </p:txBody>
      </p:sp>
      <p:sp>
        <p:nvSpPr>
          <p:cNvPr id="7" name="Text 5"/>
          <p:cNvSpPr/>
          <p:nvPr/>
        </p:nvSpPr>
        <p:spPr>
          <a:xfrm>
            <a:off x="777240" y="2971800"/>
            <a:ext cx="10241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D48A5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Does a tiny spectral–spatial transformer survive dropped or swapped bands better than a vanilla ViT?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777240" y="4160520"/>
            <a:ext cx="9875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9C4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class-scale reimplementation of SSFT §3, with wavelength-aware positional encoding instead of integer band-index embeddings. We do not claim SOTA, and we do not fine-tune a foundation model.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77240" y="5212080"/>
            <a:ext cx="10637215" cy="0"/>
          </a:xfrm>
          <a:prstGeom prst="line">
            <a:avLst/>
          </a:prstGeom>
          <a:noFill/>
          <a:ln w="9525">
            <a:solidFill>
              <a:srgbClr val="2A353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77240" y="5394960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A7A7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COURSE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77240" y="566928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FE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255  ·  FALL 2026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343400" y="5394960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A7A7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343400" y="566928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FE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github.com/scottn66/255-final-project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7909560" y="5394960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A7A7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PAPERS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7909560" y="566928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FE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SSFT 2604.15828  ·  LESSViT 2605.18541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1ED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384048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20" kern="0" dirty="0">
                <a:solidFill>
                  <a:srgbClr val="7A7F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 STATEMENT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9768535" y="384048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spc="200" kern="0" dirty="0">
                <a:solidFill>
                  <a:srgbClr val="7A7F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/ 09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77240" y="82296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B24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Hyperspectral cubes are not RGB with extra channels.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77240" y="1481328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B3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band is a physical wavelength. Sensors differ in coverage, sampling, and how many channels they return. A model trained on a fixed C often cannot even run when bands are dropped, swapped, or expanded.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777240" y="2286000"/>
            <a:ext cx="3383280" cy="3246120"/>
          </a:xfrm>
          <a:prstGeom prst="rect">
            <a:avLst/>
          </a:prstGeom>
          <a:solidFill>
            <a:srgbClr val="FFFFFF"/>
          </a:solidFill>
          <a:ln w="9525">
            <a:solidFill>
              <a:srgbClr val="C9C4B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78408" y="2450592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26A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978408" y="2834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B24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Dropped bands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978408" y="3520440"/>
            <a:ext cx="29718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B3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Missing channels at test time. A first linear layer of size C·P² cannot change C without a rebuild or a hack (zero-fill).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343400" y="2286000"/>
            <a:ext cx="3383280" cy="3246120"/>
          </a:xfrm>
          <a:prstGeom prst="rect">
            <a:avLst/>
          </a:prstGeom>
          <a:solidFill>
            <a:srgbClr val="FFFFFF"/>
          </a:solidFill>
          <a:ln w="9525">
            <a:solidFill>
              <a:srgbClr val="C9C4B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44568" y="2450592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26A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544568" y="2834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B24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Swapped / complementary bands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4544568" y="3520440"/>
            <a:ext cx="29718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B3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count C, different wavelengths. Index embeddings reuse the same rows for different physics.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7909560" y="2286000"/>
            <a:ext cx="3383280" cy="3246120"/>
          </a:xfrm>
          <a:prstGeom prst="rect">
            <a:avLst/>
          </a:prstGeom>
          <a:solidFill>
            <a:srgbClr val="FFFFFF"/>
          </a:solidFill>
          <a:ln w="9525">
            <a:solidFill>
              <a:srgbClr val="C9C4B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110728" y="2450592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26A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8110728" y="2834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B24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99% OA trap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8110728" y="3520440"/>
            <a:ext cx="29718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B3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Random-pixel splits leak 8-connected neighbors into train and test. Indian Pines is also badly imbalanced (Oats n=20 vs Soybean-mintill n=2455).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777240" y="6473952"/>
            <a:ext cx="106372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7F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LESSViT §1–§2 (Si et al., arXiv:2605.18541): spectral configuration shift. Spatial leakage: HSIC disjoint-sampling literature (random vs region splits).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1ED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384048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20" kern="0" dirty="0">
                <a:solidFill>
                  <a:srgbClr val="7A7F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RESEARCH GAP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9768535" y="384048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spc="200" kern="0" dirty="0">
                <a:solidFill>
                  <a:srgbClr val="7A7F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/ 09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77240" y="822960"/>
            <a:ext cx="10607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B24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Two recent papers, neither of which is our assignment as-is.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777240" y="1508760"/>
            <a:ext cx="5074920" cy="3246120"/>
          </a:xfrm>
          <a:prstGeom prst="rect">
            <a:avLst/>
          </a:prstGeom>
          <a:solidFill>
            <a:srgbClr val="FFFFFF"/>
          </a:solidFill>
          <a:ln w="9525">
            <a:solidFill>
              <a:srgbClr val="C9C4B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1664208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B5D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SSFT  ·  arXiv:2604.15828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005840" y="1993392"/>
            <a:ext cx="4617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B24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516k dual-path classifier we can actually reimplement.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005840" y="2697480"/>
            <a:ext cx="461772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B3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§3 factorizes spectral MHSA and a tiny spatial CNN, then fuses with cross-attention (spatial Q, spectral K/V). No official code. The spectral PE is a learned table P ∈ R^{C×D} indexed by band index — so C is baked in. Not SSFTT (TGRS 2022).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1508760"/>
            <a:ext cx="4983480" cy="3246120"/>
          </a:xfrm>
          <a:prstGeom prst="rect">
            <a:avLst/>
          </a:prstGeom>
          <a:solidFill>
            <a:srgbClr val="FFFFFF"/>
          </a:solidFill>
          <a:ln w="9525">
            <a:solidFill>
              <a:srgbClr val="C9C4B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629400" y="166420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26A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LESSViT  ·  arXiv:2605.18541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629400" y="1993392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B24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robustness recipe we will steal, not reproduce.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6629400" y="2697480"/>
            <a:ext cx="457200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B3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§2.1 tied / channel-agnostic projection so C can change. §2.2 / App. B wavelength-aware PE on λ in nm, not packed index. The rest (LESS Attention, HyperMAE, ViT-B, 4×H200, 96-hour pretrain) is out of scope for this class.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77240" y="4937760"/>
            <a:ext cx="10637215" cy="1234440"/>
          </a:xfrm>
          <a:prstGeom prst="rect">
            <a:avLst/>
          </a:prstGeom>
          <a:solidFill>
            <a:srgbClr val="E8DFC8"/>
          </a:solidFill>
          <a:ln/>
        </p:spPr>
      </p:sp>
      <p:sp>
        <p:nvSpPr>
          <p:cNvPr id="14" name="Text 12"/>
          <p:cNvSpPr/>
          <p:nvPr/>
        </p:nvSpPr>
        <p:spPr>
          <a:xfrm>
            <a:off x="1005840" y="5047488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C26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GAP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005840" y="5321808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B3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SSFT is small enough to train from scratch, but its first layers assume a fixed C. LESSViT is sensor-flexible, but it is a foundation-model paper. Nobody has shown — at class scale — whether swapping index PE for λ-PE on a ~0.5M dual-path model is enough to degrade less than a vanilla ViT under band drop/swap.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777240" y="6473952"/>
            <a:ext cx="106372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7F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Musiat, Ebert, Wasenmüller, SSFT §3. Si, Wan, Wang, Do, Zhao, LESSViT §2. Do not cite zgr6010/HSI_SSFTT.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8DFC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384048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20" kern="0" dirty="0">
                <a:solidFill>
                  <a:srgbClr val="7A7F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NOVELTY  ·  WHAT IS ACTUALLY NEW HERE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9768535" y="384048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spc="200" kern="0" dirty="0">
                <a:solidFill>
                  <a:srgbClr val="7A7F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/ 09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77240" y="82296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B24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controlled, honest class experiment — not a new backbone.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777240" y="1554480"/>
            <a:ext cx="109728" cy="1170432"/>
          </a:xfrm>
          <a:prstGeom prst="rect">
            <a:avLst/>
          </a:prstGeom>
          <a:solidFill>
            <a:srgbClr val="3B5D3A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1554480"/>
            <a:ext cx="10149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B24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From scratch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097280" y="192024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B3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write Q, K, V, scaled dot-product, multi-head split/concat, residual+FFN, and cross-attention ourselves. No nn.MultiheadAttention, no timm, no HuggingFace ViT blocks, no pretrained weights.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777240" y="2880360"/>
            <a:ext cx="109728" cy="1170432"/>
          </a:xfrm>
          <a:prstGeom prst="rect">
            <a:avLst/>
          </a:prstGeom>
          <a:solidFill>
            <a:srgbClr val="3B5D3A"/>
          </a:solidFill>
          <a:ln/>
        </p:spPr>
      </p:sp>
      <p:sp>
        <p:nvSpPr>
          <p:cNvPr id="9" name="Text 7"/>
          <p:cNvSpPr/>
          <p:nvPr/>
        </p:nvSpPr>
        <p:spPr>
          <a:xfrm>
            <a:off x="1097280" y="2880360"/>
            <a:ext cx="10149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B24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surgical change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097280" y="3246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B3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Copy SSFT §3 (D=64, s=8, 1 spectral MHSA, 1 spatial block, 1 fusion). Replace P ∈ R^{C×D} with sinusoidal 1D PE on λ in nm. Tie every C-mixing layer so C is not a weight shape.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777240" y="4206240"/>
            <a:ext cx="109728" cy="1170432"/>
          </a:xfrm>
          <a:prstGeom prst="rect">
            <a:avLst/>
          </a:prstGeom>
          <a:solidFill>
            <a:srgbClr val="C26A33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4206240"/>
            <a:ext cx="10149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B24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claim we will test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097280" y="457200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B3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SSFT-Wave should lose less AA / macro-F1 than a fixed-C ViT when bands are dropped or swapped. Relative drop (ID − OOD) / ID is the headline, not raw OA.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1ED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384048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20" kern="0" dirty="0">
                <a:solidFill>
                  <a:srgbClr val="7A7F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DATASET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9768535" y="384048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spc="200" kern="0" dirty="0">
                <a:solidFill>
                  <a:srgbClr val="7A7F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/ 09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77240" y="822960"/>
            <a:ext cx="10607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B24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Public, small, and we store wavelengths in nanometers.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777240" y="1463040"/>
            <a:ext cx="5212080" cy="3246120"/>
          </a:xfrm>
          <a:prstGeom prst="rect">
            <a:avLst/>
          </a:prstGeom>
          <a:solidFill>
            <a:srgbClr val="FFFFFF"/>
          </a:solidFill>
          <a:ln w="9525">
            <a:solidFill>
              <a:srgbClr val="C9C4B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1600200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C26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PRIMARY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005840" y="1874520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4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Indian Pines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1005840" y="2331720"/>
            <a:ext cx="47548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B3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AVIRIS  ·  145×145  ·  16 classes  ·  ~200 bands after dropping water-absorption channels  ·  ~400–2500 nm  ·  10,249 labeled pixels, highly imbalanced.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005840" y="342900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B3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Labeled-center 16×16 patches. Spatial block split (5×5 cells). Discard any patch whose support crosses a split boundary.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446520" y="1463040"/>
            <a:ext cx="4937760" cy="3246120"/>
          </a:xfrm>
          <a:prstGeom prst="rect">
            <a:avLst/>
          </a:prstGeom>
          <a:solidFill>
            <a:srgbClr val="FFFFFF"/>
          </a:solidFill>
          <a:ln w="9525">
            <a:solidFill>
              <a:srgbClr val="C9C4B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675120" y="1600200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3B5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SECOND SCENE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675120" y="1874520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4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Pavia University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6675120" y="2331720"/>
            <a:ext cx="44805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B3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ROSIS  ·  610×340  ·  9 urban classes  ·  103 bands  ·  430–860 nm. Same patch and split rules. Confirms the protocol is not Indian Pines-specific.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675120" y="3703320"/>
            <a:ext cx="4480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B3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Will not download: HSI-Benchmark (~240 GB) or SpectralEarth (~TB).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777240" y="4892040"/>
            <a:ext cx="10637215" cy="1280160"/>
          </a:xfrm>
          <a:prstGeom prst="rect">
            <a:avLst/>
          </a:prstGeom>
          <a:solidFill>
            <a:srgbClr val="E8DFC8"/>
          </a:solidFill>
          <a:ln/>
        </p:spPr>
      </p:sp>
      <p:sp>
        <p:nvSpPr>
          <p:cNvPr id="16" name="Text 14"/>
          <p:cNvSpPr/>
          <p:nvPr/>
        </p:nvSpPr>
        <p:spPr>
          <a:xfrm>
            <a:off x="1005840" y="501091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C26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NON-NEGOTIABLE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005840" y="5303520"/>
            <a:ext cx="10241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B3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sample carries a wavelengths_nm vector, not just channel indices. Random-pixel splits are forbidden: neighboring pixels of the same field leak across the cut and manufacture 99% OA. Spatial (disjoint-region) split only.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777240" y="6473952"/>
            <a:ext cx="106372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7F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GIC / UPV-EHU Hyperspectral Remote Sensing Scenes; Purdue AVIRIS Indian Pines. SSFT itself is cube→class; we adapt modules to labeled-center patches.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1ED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384048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20" kern="0" dirty="0">
                <a:solidFill>
                  <a:srgbClr val="7A7F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PROPOSED APPROACH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9768535" y="384048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spc="200" kern="0" dirty="0">
                <a:solidFill>
                  <a:srgbClr val="7A7F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/ 09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77240" y="804672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B24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SSFT §3, then one Wave-path change.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777240" y="1417320"/>
            <a:ext cx="1993392" cy="1965960"/>
          </a:xfrm>
          <a:prstGeom prst="rect">
            <a:avLst/>
          </a:prstGeom>
          <a:solidFill>
            <a:srgbClr val="E8DFC8"/>
          </a:solidFill>
          <a:ln w="9525">
            <a:solidFill>
              <a:srgbClr val="C9C4B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1508760"/>
            <a:ext cx="18105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B5D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Input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68680" y="1901952"/>
            <a:ext cx="1810512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B3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16×16×C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B3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λ in nm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B3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band_mask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2761488" y="2304288"/>
            <a:ext cx="146304" cy="54864"/>
          </a:xfrm>
          <a:prstGeom prst="rect">
            <a:avLst/>
          </a:prstGeom>
          <a:solidFill>
            <a:srgbClr val="C26A33"/>
          </a:solidFill>
          <a:ln/>
        </p:spPr>
      </p:sp>
      <p:sp>
        <p:nvSpPr>
          <p:cNvPr id="9" name="Shape 7"/>
          <p:cNvSpPr/>
          <p:nvPr/>
        </p:nvSpPr>
        <p:spPr>
          <a:xfrm>
            <a:off x="2926080" y="1417320"/>
            <a:ext cx="1993392" cy="1965960"/>
          </a:xfrm>
          <a:prstGeom prst="rect">
            <a:avLst/>
          </a:prstGeom>
          <a:solidFill>
            <a:srgbClr val="FFFFFF"/>
          </a:solidFill>
          <a:ln w="9525">
            <a:solidFill>
              <a:srgbClr val="C9C4B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17520" y="1508760"/>
            <a:ext cx="18105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B5D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Spectral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3017520" y="1901952"/>
            <a:ext cx="1810512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B3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pool s=8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B3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φ: scalar→64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B3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MHSA, 4 heads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B3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mean over C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910328" y="2304288"/>
            <a:ext cx="146304" cy="54864"/>
          </a:xfrm>
          <a:prstGeom prst="rect">
            <a:avLst/>
          </a:prstGeom>
          <a:solidFill>
            <a:srgbClr val="C26A33"/>
          </a:solidFill>
          <a:ln/>
        </p:spPr>
      </p:sp>
      <p:sp>
        <p:nvSpPr>
          <p:cNvPr id="13" name="Shape 11"/>
          <p:cNvSpPr/>
          <p:nvPr/>
        </p:nvSpPr>
        <p:spPr>
          <a:xfrm>
            <a:off x="5074920" y="1417320"/>
            <a:ext cx="1993392" cy="1965960"/>
          </a:xfrm>
          <a:prstGeom prst="rect">
            <a:avLst/>
          </a:prstGeom>
          <a:solidFill>
            <a:srgbClr val="FFFFFF"/>
          </a:solidFill>
          <a:ln w="9525">
            <a:solidFill>
              <a:srgbClr val="C9C4B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166360" y="1508760"/>
            <a:ext cx="18105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B5D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Spatial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5166360" y="1901952"/>
            <a:ext cx="1810512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B3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tied 1×1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B3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pool s=8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B3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3×3+BN+GELU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7059168" y="2304288"/>
            <a:ext cx="146304" cy="54864"/>
          </a:xfrm>
          <a:prstGeom prst="rect">
            <a:avLst/>
          </a:prstGeom>
          <a:solidFill>
            <a:srgbClr val="C26A33"/>
          </a:solidFill>
          <a:ln/>
        </p:spPr>
      </p:sp>
      <p:sp>
        <p:nvSpPr>
          <p:cNvPr id="17" name="Shape 15"/>
          <p:cNvSpPr/>
          <p:nvPr/>
        </p:nvSpPr>
        <p:spPr>
          <a:xfrm>
            <a:off x="7223760" y="1417320"/>
            <a:ext cx="1993392" cy="1965960"/>
          </a:xfrm>
          <a:prstGeom prst="rect">
            <a:avLst/>
          </a:prstGeom>
          <a:solidFill>
            <a:srgbClr val="FFFFFF"/>
          </a:solidFill>
          <a:ln w="9525">
            <a:solidFill>
              <a:srgbClr val="C9C4B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315200" y="1508760"/>
            <a:ext cx="18105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B5D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Fusion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7315200" y="1901952"/>
            <a:ext cx="1810512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B3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spatial Q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B3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spectral K/V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B3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4-head CA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9208008" y="2304288"/>
            <a:ext cx="146304" cy="54864"/>
          </a:xfrm>
          <a:prstGeom prst="rect">
            <a:avLst/>
          </a:prstGeom>
          <a:solidFill>
            <a:srgbClr val="C26A33"/>
          </a:solidFill>
          <a:ln/>
        </p:spPr>
      </p:sp>
      <p:sp>
        <p:nvSpPr>
          <p:cNvPr id="21" name="Shape 19"/>
          <p:cNvSpPr/>
          <p:nvPr/>
        </p:nvSpPr>
        <p:spPr>
          <a:xfrm>
            <a:off x="9372600" y="1417320"/>
            <a:ext cx="1993392" cy="1965960"/>
          </a:xfrm>
          <a:prstGeom prst="rect">
            <a:avLst/>
          </a:prstGeom>
          <a:solidFill>
            <a:srgbClr val="E8DFC8"/>
          </a:solidFill>
          <a:ln w="9525">
            <a:solidFill>
              <a:srgbClr val="C9C4B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464040" y="1508760"/>
            <a:ext cx="18105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B5D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Head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9464040" y="1901952"/>
            <a:ext cx="1810512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B3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adaptive pool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B3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2-layer MLP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B3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 logits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777240" y="3566160"/>
            <a:ext cx="5212080" cy="2331720"/>
          </a:xfrm>
          <a:prstGeom prst="rect">
            <a:avLst/>
          </a:prstGeom>
          <a:solidFill>
            <a:srgbClr val="FFFFFF"/>
          </a:solidFill>
          <a:ln w="9525">
            <a:solidFill>
              <a:srgbClr val="C9C4B4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05840" y="3703320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60" kern="0" dirty="0">
                <a:solidFill>
                  <a:srgbClr val="3B5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COPY FROM SSFT §3.6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1005840" y="4041648"/>
            <a:ext cx="47548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B3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D=64  ·  s=8  ·  4 heads  ·  one block each  ·  AdamW 4e-4, wd 1e-2, batch 8, ≤50 epochs, early stop. No PCA. Aux heads off for the first train (λ_aux=0.05 later).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6446520" y="3566160"/>
            <a:ext cx="4937760" cy="2331720"/>
          </a:xfrm>
          <a:prstGeom prst="rect">
            <a:avLst/>
          </a:prstGeom>
          <a:solidFill>
            <a:srgbClr val="FFFFFF"/>
          </a:solidFill>
          <a:ln w="9525">
            <a:solidFill>
              <a:srgbClr val="C9C4B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675120" y="370332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60" kern="0" dirty="0">
                <a:solidFill>
                  <a:srgbClr val="C26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CHANGE (LESSViT IDEAS)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6675120" y="4041648"/>
            <a:ext cx="45262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B3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Index table P → sinusoidal PE(λ/1000). Spatial Conv2d(C,D,1) → tied Conv2d(1,D,1) + masked mean. API: forward(cube, wavelengths, band_mask). C is never a module dimension.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1ED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384048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20" kern="0" dirty="0">
                <a:solidFill>
                  <a:srgbClr val="7A7F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EVALUATION PLAN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9768535" y="384048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spc="200" kern="0" dirty="0">
                <a:solidFill>
                  <a:srgbClr val="7A7F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/ 09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77240" y="804672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B24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Train once on a frozen band subset. Test four ways.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777240" y="1371600"/>
            <a:ext cx="2560320" cy="1554480"/>
          </a:xfrm>
          <a:prstGeom prst="rect">
            <a:avLst/>
          </a:prstGeom>
          <a:solidFill>
            <a:srgbClr val="FFFFFF"/>
          </a:solidFill>
          <a:ln w="9525">
            <a:solidFill>
              <a:srgbClr val="C9C4B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1463040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26A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14400" y="175564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4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In-distribution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914400" y="214884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B3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ID bands used in training.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474720" y="1371600"/>
            <a:ext cx="2560320" cy="1554480"/>
          </a:xfrm>
          <a:prstGeom prst="rect">
            <a:avLst/>
          </a:prstGeom>
          <a:solidFill>
            <a:srgbClr val="FFFFFF"/>
          </a:solidFill>
          <a:ln w="9525">
            <a:solidFill>
              <a:srgbClr val="C9C4B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11880" y="1463040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26A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11880" y="175564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4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Complementary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611880" y="214884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B3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Leftover / swapped wavelengths, similar C (LESSViT-style split at 1000 nm).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172200" y="1371600"/>
            <a:ext cx="2560320" cy="1554480"/>
          </a:xfrm>
          <a:prstGeom prst="rect">
            <a:avLst/>
          </a:prstGeom>
          <a:solidFill>
            <a:srgbClr val="FFFFFF"/>
          </a:solidFill>
          <a:ln w="9525">
            <a:solidFill>
              <a:srgbClr val="C9C4B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309360" y="1463040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26A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309360" y="175564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4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~50% drop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309360" y="214884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B3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Random subset of ID bands, 3 seeds. Wave path shrinks C; ViT zero-fills.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8869680" y="1371600"/>
            <a:ext cx="2560320" cy="1554480"/>
          </a:xfrm>
          <a:prstGeom prst="rect">
            <a:avLst/>
          </a:prstGeom>
          <a:solidFill>
            <a:srgbClr val="FFFFFF"/>
          </a:solidFill>
          <a:ln w="9525">
            <a:solidFill>
              <a:srgbClr val="C9C4B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006840" y="1463040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26A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9006840" y="175564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4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Full-C (opt.)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9006840" y="214884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B3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200 / 103 bands at test — channel expansion.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777240" y="3108960"/>
            <a:ext cx="5212080" cy="2606040"/>
          </a:xfrm>
          <a:prstGeom prst="rect">
            <a:avLst/>
          </a:prstGeom>
          <a:solidFill>
            <a:srgbClr val="FFFFFF"/>
          </a:solidFill>
          <a:ln w="9525">
            <a:solidFill>
              <a:srgbClr val="C9C4B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05840" y="3246120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80" kern="0" dirty="0">
                <a:solidFill>
                  <a:srgbClr val="3B5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MODELS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005840" y="3611880"/>
            <a:ext cx="475488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B3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Vanilla ViT — bands collapsed in a fixed-C first linear layer.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B3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SSFT-index — learned P on packed 0…C−1.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B3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SSFT-Wave — λ-PE + tied stem.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B3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optimizer, same spatial split, 3 seeds. No retune per test config.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6446520" y="3108960"/>
            <a:ext cx="4937760" cy="2606040"/>
          </a:xfrm>
          <a:prstGeom prst="rect">
            <a:avLst/>
          </a:prstGeom>
          <a:solidFill>
            <a:srgbClr val="FFFFFF"/>
          </a:solidFill>
          <a:ln w="9525">
            <a:solidFill>
              <a:srgbClr val="C9C4B4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675120" y="324612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80" kern="0" dirty="0">
                <a:solidFill>
                  <a:srgbClr val="C26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METRICS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675120" y="3611880"/>
            <a:ext cx="452628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B3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OA, average accuracy (AA), and macro-F1. Headline: relative drop (ID − OOD) / ID on AA and macro-F1. OA alone is invalid on Indian Pines. We will not claim SOTA.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777240" y="6473952"/>
            <a:ext cx="106372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7F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Protocol adapted from LESSViT §3.1 (train C120 VNIR+; test ID / SWIR+ / disjoint / full-C), shrunk to Indian Pines / Pavia U.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1ED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384048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20" kern="0" dirty="0">
                <a:solidFill>
                  <a:srgbClr val="7A7F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TIMELINE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9768535" y="384048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spc="200" kern="0" dirty="0">
                <a:solidFill>
                  <a:srgbClr val="7A7F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/ 09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77240" y="804672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B24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Eight sprints. One ticket in progress. No mystery layers.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77240" y="1371600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60" kern="0" dirty="0">
                <a:solidFill>
                  <a:srgbClr val="C26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 BUILD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777240" y="1627632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4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Now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777240" y="2029968"/>
            <a:ext cx="342900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C9C4B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86968" y="2157984"/>
            <a:ext cx="3474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B5D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252728" y="2139696"/>
            <a:ext cx="28163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B3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Spike: attention + λ-PE on a fake cube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252728" y="2670048"/>
            <a:ext cx="2816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26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777240" y="3145536"/>
            <a:ext cx="342900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C9C4B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86968" y="3273552"/>
            <a:ext cx="3474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B5D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252728" y="3255264"/>
            <a:ext cx="28163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B3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SSFT-index dummy forward + param count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252728" y="3785616"/>
            <a:ext cx="2816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26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Ready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777240" y="4261104"/>
            <a:ext cx="342900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C9C4B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86968" y="4389120"/>
            <a:ext cx="3474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B5D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252728" y="4370832"/>
            <a:ext cx="28163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B3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Wave API: tied 1×1, C=32 then C=20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252728" y="4901184"/>
            <a:ext cx="2816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26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389120" y="1371600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60" kern="0" dirty="0">
                <a:solidFill>
                  <a:srgbClr val="C26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 DATA + LOOP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389120" y="1627632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4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After 3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4389120" y="2029968"/>
            <a:ext cx="342900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C9C4B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498848" y="2157984"/>
            <a:ext cx="3474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B5D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4864608" y="2139696"/>
            <a:ext cx="28163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B3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Indian Pines + spatial split + nm table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4389120" y="3145536"/>
            <a:ext cx="342900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C9C4B4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498848" y="3273552"/>
            <a:ext cx="3474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B5D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4864608" y="3255264"/>
            <a:ext cx="28163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B3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Tiny overfit (1–8 patches)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4389120" y="4261104"/>
            <a:ext cx="342900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C9C4B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498848" y="4389120"/>
            <a:ext cx="3474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B5D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4864608" y="4370832"/>
            <a:ext cx="28163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B3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Vanilla ViT baseline, fixed C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8001000" y="1371600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60" kern="0" dirty="0">
                <a:solidFill>
                  <a:srgbClr val="C26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  EXPERIMENT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8001000" y="1627632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4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Close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8001000" y="2029968"/>
            <a:ext cx="342900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C9C4B4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110728" y="2157984"/>
            <a:ext cx="3474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B5D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8476488" y="2139696"/>
            <a:ext cx="28163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B3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Band-drop table, 3 seeds, OA/AA/F1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8001000" y="3145536"/>
            <a:ext cx="342900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C9C4B4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110728" y="3273552"/>
            <a:ext cx="3474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B5D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8476488" y="3255264"/>
            <a:ext cx="28163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B3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ablations + writeup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B2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384048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20" kern="0" dirty="0">
                <a:solidFill>
                  <a:srgbClr val="A7A7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SUCCESS LOOKS LIKE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9768535" y="384048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spc="200" kern="0" dirty="0">
                <a:solidFill>
                  <a:srgbClr val="A7A7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/ 09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77240" y="1234440"/>
            <a:ext cx="10515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EFE9D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~0.5M dual-path model that degrades less than a vanilla ViT when bands are dropped or swapped.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77240" y="288036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180" kern="0" dirty="0">
                <a:solidFill>
                  <a:srgbClr val="D4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Will report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77240" y="3246120"/>
            <a:ext cx="5029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FE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Honest param count, spatial-split OA/AA/macro-F1, relative drop, two ablations.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172200" y="288036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180" kern="0" dirty="0">
                <a:solidFill>
                  <a:srgbClr val="D4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Will not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172200" y="3246120"/>
            <a:ext cx="5029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FE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SOTA on Indian Pines. Foundation-model fine-tunes. HSI-Benchmark / SpectralEarth. Lab 1 NPU work. SSFTT 2022.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777240" y="4754880"/>
            <a:ext cx="10637215" cy="0"/>
          </a:xfrm>
          <a:prstGeom prst="line">
            <a:avLst/>
          </a:prstGeom>
          <a:noFill/>
          <a:ln w="9525">
            <a:solidFill>
              <a:srgbClr val="2A353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77240" y="4983480"/>
            <a:ext cx="10607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9C4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  ·  github.com/scottn66/255-final-project  ·  bulletins/ 1.xx plan, 2.xx board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C9C4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pull  ·  Sprint 2 — SSFT-index on a dummy cube (no data download)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SSFT-Wave — DATA 255 Project Introduction</dc:title>
  <dc:subject>Brief class introduction: problem, gap, data, method, evaluation, timeline</dc:subject>
  <dc:creator>SJSU DATA 255</dc:creator>
  <cp:lastModifiedBy>SJSU DATA 255</cp:lastModifiedBy>
  <cp:revision>1</cp:revision>
  <dcterms:created xsi:type="dcterms:W3CDTF">2026-09-09T08:29:55Z</dcterms:created>
  <dcterms:modified xsi:type="dcterms:W3CDTF">2026-09-09T08:29:55Z</dcterms:modified>
</cp:coreProperties>
</file>